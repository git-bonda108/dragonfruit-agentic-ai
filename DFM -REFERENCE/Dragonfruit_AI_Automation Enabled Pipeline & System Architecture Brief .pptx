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jPa9s0Sc6UEklbucXyB0WIQ5qO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72"/>
    <p:restoredTop sz="94652"/>
  </p:normalViewPr>
  <p:slideViewPr>
    <p:cSldViewPr snapToGrid="0">
      <p:cViewPr varScale="1">
        <p:scale>
          <a:sx n="178" d="100"/>
          <a:sy n="178" d="100"/>
        </p:scale>
        <p:origin x="92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agonfruitmedia.co/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oogle.com/spreadsheets/d/1EMvzUpYBkbho3Xr1iF2Cpoee1Vf6IthWgnDCA-twr0A/edit?gid=346654123#gid=346654123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12" Type="http://schemas.openxmlformats.org/officeDocument/2006/relationships/hyperlink" Target="https://docs.google.com/document/d/1RrI8zavYgY6rtDiXnaTkrekRtH0YjJNM/ed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spreadsheets/d/117wABtA-XB83YkbYcwnB-gIAH2t7iRqZnlU3OsrPE_A/edit?gid=61524731#gid=61524731" TargetMode="Externa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hyperlink" Target="https://docs.google.com/presentation/d/1ebcbjw4_dfiuVbAAfnwcO7lJVNl6NqvT/edit?slide=id.p1#slide=id.p1" TargetMode="External"/><Relationship Id="rId4" Type="http://schemas.openxmlformats.org/officeDocument/2006/relationships/hyperlink" Target="https://docs.google.com/spreadsheets/d/15XYkJQSMhOdq3jGoIyXto8I5OrLolKMZ/edit?gid=926194456#gid=926194456" TargetMode="Externa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6459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Trebuchet MS"/>
              <a:buNone/>
            </a:pPr>
            <a:r>
              <a:rPr lang="en-US" sz="42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&amp; Automation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4200"/>
              <a:buFont typeface="Trebuchet MS"/>
              <a:buNone/>
            </a:pPr>
            <a:r>
              <a:rPr lang="en-US" sz="420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</a:t>
            </a:r>
            <a:r>
              <a:rPr lang="en-US" sz="42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 Brief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6" y="3383275"/>
            <a:ext cx="7553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Objective: expand</a:t>
            </a:r>
            <a:r>
              <a:rPr lang="en-US" sz="14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pod capacity from 4 to </a:t>
            </a:r>
            <a:r>
              <a:rPr lang="en-US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clients through agentic infrastructure and workflow automation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March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7772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What's Inside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71600" y="150876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Company Overview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71600" y="176479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Who Dragonfruit Media is and what we 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1371600" y="203911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2"/>
          <p:cNvSpPr/>
          <p:nvPr/>
        </p:nvSpPr>
        <p:spPr>
          <a:xfrm>
            <a:off x="731520" y="21031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71600" y="210312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Materials Provided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71600" y="23591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Links to dream allocations, pipeline docs, AI survey,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tool wish list, 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and current tool stack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1371600" y="263347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2"/>
          <p:cNvSpPr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71600" y="269748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The Objective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371600" y="29535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Scale from 4 →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clients per pod by EOY through automation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agentic workflows, and bespoke custom tooling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1371600" y="322783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"/>
          <p:cNvSpPr/>
          <p:nvPr/>
        </p:nvSpPr>
        <p:spPr>
          <a:xfrm>
            <a:off x="731520" y="32918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71600" y="329184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Your Proposal Should Include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371600" y="354787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System architecture, AI toolkit, roadmap, costs, and engagement structure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1371600" y="3822192"/>
            <a:ext cx="685800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2"/>
          <p:cNvSpPr/>
          <p:nvPr/>
        </p:nvSpPr>
        <p:spPr>
          <a:xfrm>
            <a:off x="731520" y="3886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371600" y="38862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Criteria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371600" y="41422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How we'll assess and compare proposals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COMPANY 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Dragonfruit Media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Dragonfruit Media is a full-service YouTube growth agency. We partner with creators, brands, and businesses to produce high-performing long-form and short-form content at scale — from strategy and scripting through post-production and publishing. </a:t>
            </a:r>
            <a:r>
              <a:rPr lang="en-US" sz="12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  <a:r>
              <a:rPr lang="en-US" sz="12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to become the largest educational content provider on YouTube. </a:t>
            </a:r>
            <a:r>
              <a:rPr lang="en-US" sz="12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Currently, we ship 60+ 15-20min videos a month plus hundreds of shorts. 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Check out our website here for more info and our past clients.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315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86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12344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90</a:t>
            </a: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686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889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60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32918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5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29260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Core Roles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8463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834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53492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~4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9834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Clients Per Pod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903720" y="2316480"/>
            <a:ext cx="1828800" cy="1005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040880" y="2453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406640" y="2380488"/>
            <a:ext cx="1188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20+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040880" y="291084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Tools in Stack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3370265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400"/>
              <a:buFont typeface="Trebuchet MS"/>
              <a:buNone/>
            </a:pPr>
            <a:r>
              <a:rPr lang="en-US" sz="1400" b="1" i="0" u="none" strike="noStrike" cap="none" dirty="0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Pod Structure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31525" y="3690372"/>
            <a:ext cx="7680900" cy="7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pod consists of a Producer, Creative Director, Production Coordinator, and a Post Production Manager that manages roughly  10-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Editors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We also have supporting roles 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(Scriptwriter, Thumbnail Designer, Data Analyst)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that are shared resources across pods. 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pod 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manage the full lifecycle from onboarding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pre production, post production, 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publishing and monthly reporting. The clients we work with handl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100" b="0" i="0" u="none" strike="noStrike" cap="none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the physical shoo</a:t>
            </a:r>
            <a:r>
              <a:rPr lang="en-US" sz="1100" dirty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ting and we receive the footage to edit.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97285" y="2562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MATERIALS PROVIDED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 Documents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following materials have been shared alongside this brief. Please review all documents before preparing your proposal.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731520" y="1572768"/>
            <a:ext cx="768096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664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1325880" y="1591056"/>
            <a:ext cx="42062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vs. Dream Time Allocations </a:t>
            </a:r>
            <a:r>
              <a:rPr lang="en-US" sz="1150" b="1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4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669280" y="1609344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b="1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★  PRIORITY DOCU</a:t>
            </a:r>
            <a:r>
              <a:rPr lang="en-US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MENT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325880" y="1801368"/>
            <a:ext cx="6903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Time audit across all 5 roles: where time is currently spent vs. where we want it. This defines the efficiency gaps and target state.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31545" y="2654499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25" y="274593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1325905" y="2672787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Production Pipeline</a:t>
            </a:r>
            <a:r>
              <a:rPr lang="en-US" sz="115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150" b="1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6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325905" y="288309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End-to-end workflow from client onboarding through publishing — every step, responsible role, and software tool currently used.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31545" y="3184851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25" y="327629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1325905" y="3203139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Tool Stack &amp; Spend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8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325905" y="3413451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Full inventory of active tools, subscription costs, and role assignments. ~$12.8K/month across 40+ subscriptions.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31545" y="3715203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25" y="3806643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1325905" y="3733491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 Survey — Role Breakdown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0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325905" y="394244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Survey of 73 team members across 5 roles. Current AI tool usage, key use cases, and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level of “AI self use” per role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31545" y="2121339"/>
            <a:ext cx="7680900" cy="4572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3" name="Google Shape;113;p4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4425" y="2212779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325905" y="2139627"/>
            <a:ext cx="420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Trebuchet MS"/>
              <a:buNone/>
            </a:pP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"</a:t>
            </a:r>
            <a:r>
              <a:rPr lang="en-US" sz="1150" b="1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Wish List Tools</a:t>
            </a:r>
            <a:r>
              <a:rPr lang="en-US" sz="115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" Per Role &amp; Potential Use Cases </a:t>
            </a:r>
            <a:r>
              <a:rPr lang="en-US" sz="1150" b="1" i="0" u="sng" strike="noStrike" cap="none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12"/>
              </a:rPr>
              <a:t>[LINK]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325905" y="2349939"/>
            <a:ext cx="6903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Internal wish list of AI-powered tools and workflows by role — predictive retention tools, automated QC, and more.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Links to each document will be provided via email alongside this deck.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671505" y="2149697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b="1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★  PRIORITY DOCU</a:t>
            </a:r>
            <a:r>
              <a:rPr lang="en-US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MENT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OBJECTIVE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Scale Pod Capacity by EOY 2026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1520" y="1371600"/>
            <a:ext cx="3474720" cy="14630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31520" y="141732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 → </a:t>
            </a:r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31520" y="2240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8C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Clients per pod by end of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31520" y="25146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Without proportional headcount increase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Trebuchet MS"/>
              <a:buNone/>
            </a:pPr>
            <a:r>
              <a:rPr lang="en-US" sz="15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How We Get There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8745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4937760" y="18288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Automation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315200" y="18288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Primary lever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937760" y="2084832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Automate repetitive tasks across ClickUp, Slack, Notion, and Dropbox — the bulk of coordination overhead.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0" y="267295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4937760" y="2627231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Agentic Infrastructure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15200" y="2627231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Secondary lever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937760" y="2883263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AI agents for task routing, status updates, feedback distribution, and content prep workflows.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0" y="3483897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4937760" y="343817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AI Wish List Toolkit by 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315200" y="3438177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800"/>
              <a:buFont typeface="Calibri"/>
              <a:buNone/>
            </a:pPr>
            <a:r>
              <a:rPr lang="en-US" sz="1000" b="1" i="0" u="none" strike="noStrike" cap="non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Enabler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937760" y="3694209"/>
            <a:ext cx="347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Right-fit AI tools per role — from Claude projects for CDs to automated ingest for editors.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PROPOSAL 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31520" y="68580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What Your Proposal Should Include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1520" y="1393534"/>
            <a:ext cx="3657600" cy="310890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/>
          <p:nvPr/>
        </p:nvSpPr>
        <p:spPr>
          <a:xfrm>
            <a:off x="374904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80160" y="142646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</a:t>
            </a: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Architecture</a:t>
            </a: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&amp; Vision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rot="10800000" flipH="1">
            <a:off x="960127" y="1983548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115568" y="196602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Map our current pipeline and identify every automation opportunity.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Identify where time gets saved.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60120" y="268833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115568" y="263165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Define where agentic workflows could be implemented (e.g., Claude-to-ClickUp MCP, Slack routing agents, automated QC)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60120" y="3332033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115568" y="3198582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Recommend which integrations to build vs. which tools to replace or add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960120" y="3909928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1115568" y="3765510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Include a diagram or system map of the proposed architecture (if applicable)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709160" y="1371600"/>
            <a:ext cx="3657600" cy="310896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4709160" y="137160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14447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7726680" y="14173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257800" y="142646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Toolkit Per Role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937760" y="212140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5093208" y="2029934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If applicable, recommend</a:t>
            </a: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specific AI tools for each of our 5 core roles based on the survey data and dream allocations (</a:t>
            </a:r>
            <a:r>
              <a:rPr lang="en-US" sz="11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reference Wish List)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937760" y="2848403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093208" y="2693019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Justify why each tool was selected (cost, capability, learning curve)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937760" y="3415331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093208" y="3259947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Account for current tool adoption patterns (e.g., editors are power users, CDs have a knowledge gap)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937760" y="3982259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5093208" y="3781150"/>
            <a:ext cx="3063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Include licensing/cost estimates per tool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280160" y="274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PROPOSAL REQUIREMENTS (CONTINUED)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31520" y="777240"/>
            <a:ext cx="3657600" cy="352044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31520" y="77724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8503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3749040" y="822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C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280160" y="8321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Roadmap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960120" y="152704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115568" y="1435608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Phased rollout plan with clear milestones and timelines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960120" y="2057400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1115568" y="1965960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Quick wins (first 30 days) vs. longer-term infrastructure builds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60120" y="2587752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1115568" y="2496312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Define what success looks like at each phase — measurable KPIs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60120" y="3118104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115568" y="3026664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Risk mitigation plan (human-in-the-loop, rollback strategies)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0120" y="364845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1115568" y="3557016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Training and adoption plan for each role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709160" y="777240"/>
            <a:ext cx="3657600" cy="3520440"/>
          </a:xfrm>
          <a:prstGeom prst="rect">
            <a:avLst/>
          </a:prstGeom>
          <a:solidFill>
            <a:srgbClr val="F3F4F6"/>
          </a:solidFill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709160" y="777240"/>
            <a:ext cx="3657600" cy="4572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3" name="Google Shape;213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2040" y="8503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7726680" y="8229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E94560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257800" y="83210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Costs &amp; Engagement Structure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27048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5093208" y="1435608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Your proposed rate structure (hourly, retainer, project-based, or hybrid)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937760" y="2112235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093208" y="1911125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Estimated total cost of labour for the full engagement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21950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5093208" y="2496312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Anticipated costs of system architecture (tools, integrations, infrastructure, and ongoing maintenance)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107137"/>
            <a:ext cx="54900" cy="549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093208" y="3026664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we'd work together — cadence, communication, decision-making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937760" y="3648456"/>
            <a:ext cx="54864" cy="54864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093208" y="3557016"/>
            <a:ext cx="3063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900"/>
              <a:buFont typeface="Calibri"/>
              <a:buNone/>
            </a:pPr>
            <a:r>
              <a:rPr lang="en-US" sz="11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Team composition — who specifically would work on this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731520" y="4407408"/>
            <a:ext cx="7680960" cy="201168"/>
          </a:xfrm>
          <a:prstGeom prst="rect">
            <a:avLst/>
          </a:prstGeom>
          <a:solidFill>
            <a:srgbClr val="FDE8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731520" y="43891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33344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 will compare all proposals side-by-side. Completeness and specificity matter.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731520" y="2743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128016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EVALUATION CRITERIA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31525" y="640075"/>
            <a:ext cx="8066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How We'll Evaluate Proposals - due March 13th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31520" y="1234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We're reviewing multiple proposals in parallel. Open to you submitting this or jumping on a follow up call to discuss. Here's what we'll weigh most heavily: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31520" y="1737360"/>
            <a:ext cx="7772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731520" y="175564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737360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Specificity to Our Workflow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737360" y="199339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it reference our pipeline, tools, and time audit — not generic advice?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1737360" y="224028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9"/>
          <p:cNvSpPr/>
          <p:nvPr/>
        </p:nvSpPr>
        <p:spPr>
          <a:xfrm>
            <a:off x="731520" y="2286000"/>
            <a:ext cx="777240" cy="457200"/>
          </a:xfrm>
          <a:prstGeom prst="rect">
            <a:avLst/>
          </a:prstGeom>
          <a:solidFill>
            <a:srgbClr val="E94560">
              <a:alpha val="8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731520" y="230428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25%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737360" y="2286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Clarity of Architecture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1737360" y="254203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Is the system design concrete? Could we hand it to an engineer tomorrow?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9"/>
          <p:cNvCxnSpPr/>
          <p:nvPr/>
        </p:nvCxnSpPr>
        <p:spPr>
          <a:xfrm>
            <a:off x="1737360" y="278892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p9"/>
          <p:cNvSpPr/>
          <p:nvPr/>
        </p:nvSpPr>
        <p:spPr>
          <a:xfrm>
            <a:off x="731520" y="2834640"/>
            <a:ext cx="777240" cy="457200"/>
          </a:xfrm>
          <a:prstGeom prst="rect">
            <a:avLst/>
          </a:prstGeom>
          <a:solidFill>
            <a:srgbClr val="E94560">
              <a:alpha val="7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31520" y="285292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737360" y="28346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Realistic Roadmap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1737360" y="309067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Are timelines grounded? Does it account for training, adoption, and iteration?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9"/>
          <p:cNvCxnSpPr/>
          <p:nvPr/>
        </p:nvCxnSpPr>
        <p:spPr>
          <a:xfrm>
            <a:off x="1737360" y="333756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9"/>
          <p:cNvSpPr/>
          <p:nvPr/>
        </p:nvSpPr>
        <p:spPr>
          <a:xfrm>
            <a:off x="731520" y="3383280"/>
            <a:ext cx="777240" cy="457200"/>
          </a:xfrm>
          <a:prstGeom prst="rect">
            <a:avLst/>
          </a:prstGeom>
          <a:solidFill>
            <a:srgbClr val="E94560">
              <a:alpha val="6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31520" y="340156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15%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73736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Cost Transparency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737360" y="363931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Clear breakdown of labour costs and anticipated system architecture costs.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>
            <a:off x="1737360" y="3886200"/>
            <a:ext cx="6675120" cy="0"/>
          </a:xfrm>
          <a:prstGeom prst="straightConnector1">
            <a:avLst/>
          </a:prstGeom>
          <a:noFill/>
          <a:ln w="9525" cap="flat" cmpd="sng">
            <a:solidFill>
              <a:srgbClr val="E5E7E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1" name="Google Shape;261;p9"/>
          <p:cNvSpPr/>
          <p:nvPr/>
        </p:nvSpPr>
        <p:spPr>
          <a:xfrm>
            <a:off x="731520" y="3931920"/>
            <a:ext cx="777240" cy="457200"/>
          </a:xfrm>
          <a:prstGeom prst="rect">
            <a:avLst/>
          </a:prstGeom>
          <a:solidFill>
            <a:srgbClr val="E94560">
              <a:alpha val="5215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31520" y="3950208"/>
            <a:ext cx="777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10%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1737360" y="39319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1A1A2E"/>
                </a:solidFill>
                <a:latin typeface="Trebuchet MS"/>
                <a:ea typeface="Trebuchet MS"/>
                <a:cs typeface="Trebuchet MS"/>
                <a:sym typeface="Trebuchet MS"/>
              </a:rPr>
              <a:t>Engagement Fit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737360" y="4187952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Does the working model match how we operate (async-first, Slack-heavy)?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4572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DRAGONFRUIT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114800" y="4709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1052</Words>
  <Application>Microsoft Macintosh PowerPoint</Application>
  <PresentationFormat>On-screen Show (16:9)</PresentationFormat>
  <Paragraphs>144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Dragonfruit Media</dc:creator>
  <cp:lastModifiedBy>Satya Bonda</cp:lastModifiedBy>
  <cp:revision>1</cp:revision>
  <dcterms:created xsi:type="dcterms:W3CDTF">2026-03-02T21:23:09Z</dcterms:created>
  <dcterms:modified xsi:type="dcterms:W3CDTF">2026-03-08T18:22:49Z</dcterms:modified>
</cp:coreProperties>
</file>