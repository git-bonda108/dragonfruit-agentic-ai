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335"/>
    <p:restoredTop sz="94610"/>
  </p:normalViewPr>
  <p:slideViewPr>
    <p:cSldViewPr snapToGrid="0" snapToObjects="1">
      <p:cViewPr varScale="1">
        <p:scale>
          <a:sx n="188" d="100"/>
          <a:sy n="188" d="100"/>
        </p:scale>
        <p:origin x="5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6653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6858000" y="-457200"/>
            <a:ext cx="1645920" cy="6400800"/>
          </a:xfrm>
          <a:prstGeom prst="rect">
            <a:avLst/>
          </a:prstGeom>
          <a:solidFill>
            <a:srgbClr val="E50000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900000">
            <a:off x="7772400" y="-731520"/>
            <a:ext cx="1097280" cy="6858000"/>
          </a:xfrm>
          <a:prstGeom prst="rect">
            <a:avLst/>
          </a:prstGeom>
          <a:solidFill>
            <a:srgbClr val="E5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E5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R A G O N  F R U I T  M E D I 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Tool Survey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E5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 Breakdown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each department uses AI — tools, use cases, and what they need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566160"/>
            <a:ext cx="1737360" cy="10058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36118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5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48640" y="41148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0" y="3566160"/>
            <a:ext cx="1737360" cy="10058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60320" y="36118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5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560320" y="41148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Roles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3566160"/>
            <a:ext cx="1737360" cy="10058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0" y="36118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5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20+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572000" y="41148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Tracked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6858000" y="-457200"/>
            <a:ext cx="1645920" cy="6400800"/>
          </a:xfrm>
          <a:prstGeom prst="rect">
            <a:avLst/>
          </a:prstGeom>
          <a:solidFill>
            <a:srgbClr val="E50000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900000">
            <a:off x="7772400" y="-731520"/>
            <a:ext cx="1097280" cy="6858000"/>
          </a:xfrm>
          <a:prstGeom prst="rect">
            <a:avLst/>
          </a:prstGeom>
          <a:solidFill>
            <a:srgbClr val="E5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663440"/>
            <a:ext cx="914400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Dragonfruit Media  •  AI Tool Survey — Role Breakdown  •  February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3200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 Overview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 respondents across 5 core roles + 5 specialized positions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371600"/>
            <a:ext cx="8046720" cy="56692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1371600"/>
            <a:ext cx="64008" cy="566928"/>
          </a:xfrm>
          <a:prstGeom prst="rect">
            <a:avLst/>
          </a:prstGeom>
          <a:solidFill>
            <a:srgbClr val="E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13898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Editors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16642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 people  (63%)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00400" y="13898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#1: ChatGPT (89%)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0" y="16642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gen, video gen, ideation, audio fixes, animation concepts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2029968"/>
            <a:ext cx="8046720" cy="56692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2029968"/>
            <a:ext cx="64008" cy="566928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204825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Coordinators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232257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people  (12%)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00400" y="20482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#1: ChatGPT (100%)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0" y="232257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comms, captions, reports, task management, proofreading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2688336"/>
            <a:ext cx="8046720" cy="56692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48640" y="2688336"/>
            <a:ext cx="64008" cy="566928"/>
          </a:xfrm>
          <a:prstGeom prst="rect">
            <a:avLst/>
          </a:prstGeom>
          <a:solidFill>
            <a:srgbClr val="B3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77240" y="27066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Creative Directors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298094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people  (7%)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00400" y="27066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#1: ChatGPT (100%)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00400" y="298094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Ideation, scripting, concepting, thumbnail design, roadmaps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3346704"/>
            <a:ext cx="8046720" cy="56692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48640" y="3346704"/>
            <a:ext cx="64008" cy="566928"/>
          </a:xfrm>
          <a:prstGeom prst="rect">
            <a:avLst/>
          </a:prstGeom>
          <a:solidFill>
            <a:srgbClr val="99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77240" y="33649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 Production Managers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77240" y="36393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people  (5%)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200400" y="33649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#1: ChatGPT &amp; ElevenLabs (100%)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200400" y="363931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SOPs, audio fixes, case studies, video concepts, team support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" y="4005072"/>
            <a:ext cx="8046720" cy="56692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48640" y="4005072"/>
            <a:ext cx="64008" cy="566928"/>
          </a:xfrm>
          <a:prstGeom prst="rect">
            <a:avLst/>
          </a:prstGeom>
          <a:solidFill>
            <a:srgbClr val="8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77240" y="40233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Producers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77240" y="42976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people  (5%)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200400" y="4023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#1: ChatGPT &amp; Claude (50% each)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200400" y="429768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planning, client research, proofreading, data visuals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48640" y="452628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surveyed: Thumbnail Designer, Data Analyst, Script Writer, Production Strategist, Head of Innovation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6858000" y="-457200"/>
            <a:ext cx="1645920" cy="6400800"/>
          </a:xfrm>
          <a:prstGeom prst="rect">
            <a:avLst/>
          </a:prstGeom>
          <a:solidFill>
            <a:srgbClr val="E50000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900000">
            <a:off x="7772400" y="-731520"/>
            <a:ext cx="1097280" cy="6858000"/>
          </a:xfrm>
          <a:prstGeom prst="rect">
            <a:avLst/>
          </a:prstGeom>
          <a:solidFill>
            <a:srgbClr val="E5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663440"/>
            <a:ext cx="914400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Dragonfruit Media  •  AI Tool Survey — Role Breakdown  •  February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1828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Editors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 respondents  •  63% of team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9601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Tools Used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03120" y="1325880"/>
            <a:ext cx="1828800" cy="219456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103120" y="1325880"/>
            <a:ext cx="1630017" cy="219456"/>
          </a:xfrm>
          <a:prstGeom prst="rect">
            <a:avLst/>
          </a:prstGeom>
          <a:solidFill>
            <a:srgbClr val="E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131673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005072" y="131673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 (89%)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103120" y="1636776"/>
            <a:ext cx="1828800" cy="219456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103120" y="1636776"/>
            <a:ext cx="1232452" cy="219456"/>
          </a:xfrm>
          <a:prstGeom prst="rect">
            <a:avLst/>
          </a:prstGeom>
          <a:solidFill>
            <a:srgbClr val="E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16276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005072" y="162763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(67%)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103120" y="1947672"/>
            <a:ext cx="1828800" cy="219456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103120" y="1947672"/>
            <a:ext cx="1033670" cy="219456"/>
          </a:xfrm>
          <a:prstGeom prst="rect">
            <a:avLst/>
          </a:prstGeom>
          <a:solidFill>
            <a:srgbClr val="E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" y="193852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Freepik AI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005072" y="193852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(57%)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103120" y="2258568"/>
            <a:ext cx="1828800" cy="219456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103120" y="2258568"/>
            <a:ext cx="954157" cy="219456"/>
          </a:xfrm>
          <a:prstGeom prst="rect">
            <a:avLst/>
          </a:prstGeom>
          <a:solidFill>
            <a:srgbClr val="E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94360" y="224942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ElevenLabs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005072" y="224942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(52%)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103120" y="2569464"/>
            <a:ext cx="1828800" cy="219456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103120" y="2569464"/>
            <a:ext cx="914400" cy="219456"/>
          </a:xfrm>
          <a:prstGeom prst="rect">
            <a:avLst/>
          </a:prstGeom>
          <a:solidFill>
            <a:srgbClr val="E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94360" y="256032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Adobe Firefly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005072" y="256032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(50%)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103120" y="2880360"/>
            <a:ext cx="1828800" cy="219456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103120" y="2880360"/>
            <a:ext cx="675861" cy="219456"/>
          </a:xfrm>
          <a:prstGeom prst="rect">
            <a:avLst/>
          </a:prstGeom>
          <a:solidFill>
            <a:srgbClr val="E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94360" y="287121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Veo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005072" y="287121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(37%)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48640" y="323697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used: Higgsfield (13), Claude (12), Kling AI (11), Artlist Video (7)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029200" y="9601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Use Cases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029200" y="1280160"/>
            <a:ext cx="45720" cy="310896"/>
          </a:xfrm>
          <a:prstGeom prst="rect">
            <a:avLst/>
          </a:prstGeom>
          <a:solidFill>
            <a:srgbClr val="E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166360" y="127101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Ideation &amp; Research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166360" y="141732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Brainstorming roadmaps, script analysis, animation concepts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029200" y="1682496"/>
            <a:ext cx="45720" cy="310896"/>
          </a:xfrm>
          <a:prstGeom prst="rect">
            <a:avLst/>
          </a:prstGeom>
          <a:solidFill>
            <a:srgbClr val="E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166360" y="16733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Generation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166360" y="181965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Thumbnails, B-roll stills, icons, concept art (ChatGPT, Freepik)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029200" y="2084832"/>
            <a:ext cx="45720" cy="310896"/>
          </a:xfrm>
          <a:prstGeom prst="rect">
            <a:avLst/>
          </a:prstGeom>
          <a:solidFill>
            <a:srgbClr val="E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166360" y="207568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Generation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166360" y="222199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B-roll, cinematic shots, motion graphics (Higgsfield, Veo, Kling)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029200" y="2487168"/>
            <a:ext cx="45720" cy="310896"/>
          </a:xfrm>
          <a:prstGeom prst="rect">
            <a:avLst/>
          </a:prstGeom>
          <a:solidFill>
            <a:srgbClr val="E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166360" y="247802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&amp; Voice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166360" y="262432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cloning, audio cleanup, dialogue fixes (ElevenLabs)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029200" y="2889504"/>
            <a:ext cx="45720" cy="310896"/>
          </a:xfrm>
          <a:prstGeom prst="rect">
            <a:avLst/>
          </a:prstGeom>
          <a:solidFill>
            <a:srgbClr val="E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166360" y="28803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Extension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166360" y="302666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Aspect ratio changes, generative fill (Firefly in Photoshop)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029200" y="3291840"/>
            <a:ext cx="45720" cy="310896"/>
          </a:xfrm>
          <a:prstGeom prst="rect">
            <a:avLst/>
          </a:prstGeom>
          <a:solidFill>
            <a:srgbClr val="E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166360" y="328269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&amp; Expressions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166360" y="342900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Effects expressions, automation scripts (ChatGPT, Claude)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48640" y="3703320"/>
            <a:ext cx="4114800" cy="84124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731520" y="375818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"ChatGPT feels like my art director."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31520" y="427024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5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Levi C., Editor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846320" y="3703320"/>
            <a:ext cx="3749040" cy="84124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5029200" y="3758184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5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Requests from DFM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029200" y="3959352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ChatGPT Paid (13 requests)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Higgsfield (11 requests)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Gemini Premium (7 requests)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Adobe CC / Firefly (5 requests)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6858000" y="-457200"/>
            <a:ext cx="1645920" cy="6400800"/>
          </a:xfrm>
          <a:prstGeom prst="rect">
            <a:avLst/>
          </a:prstGeom>
          <a:solidFill>
            <a:srgbClr val="E50000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900000">
            <a:off x="7772400" y="-731520"/>
            <a:ext cx="1097280" cy="6858000"/>
          </a:xfrm>
          <a:prstGeom prst="rect">
            <a:avLst/>
          </a:prstGeom>
          <a:solidFill>
            <a:srgbClr val="E5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663440"/>
            <a:ext cx="914400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Dragonfruit Media  •  AI Tool Survey — Role Breakdown  •  February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1828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Coordinators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respondents  •  12% of team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9601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Tools Used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03120" y="1325880"/>
            <a:ext cx="1828800" cy="219456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103120" y="1325880"/>
            <a:ext cx="1828800" cy="219456"/>
          </a:xfrm>
          <a:prstGeom prst="rect">
            <a:avLst/>
          </a:prstGeom>
          <a:solidFill>
            <a:srgbClr val="E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131673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005072" y="131673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(100%)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103120" y="1636776"/>
            <a:ext cx="1828800" cy="219456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103120" y="1636776"/>
            <a:ext cx="1016000" cy="219456"/>
          </a:xfrm>
          <a:prstGeom prst="rect">
            <a:avLst/>
          </a:prstGeom>
          <a:solidFill>
            <a:srgbClr val="E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16276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005072" y="162763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(56%)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103120" y="1947672"/>
            <a:ext cx="1828800" cy="219456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103120" y="1947672"/>
            <a:ext cx="609600" cy="219456"/>
          </a:xfrm>
          <a:prstGeom prst="rect">
            <a:avLst/>
          </a:prstGeom>
          <a:solidFill>
            <a:srgbClr val="E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" y="193852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Adobe Firefly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005072" y="193852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(33%)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103120" y="2258568"/>
            <a:ext cx="1828800" cy="219456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103120" y="2258568"/>
            <a:ext cx="609600" cy="219456"/>
          </a:xfrm>
          <a:prstGeom prst="rect">
            <a:avLst/>
          </a:prstGeom>
          <a:solidFill>
            <a:srgbClr val="E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94360" y="224942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ElevenLabs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005072" y="224942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(33%)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103120" y="2569464"/>
            <a:ext cx="1828800" cy="219456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103120" y="2569464"/>
            <a:ext cx="203200" cy="219456"/>
          </a:xfrm>
          <a:prstGeom prst="rect">
            <a:avLst/>
          </a:prstGeom>
          <a:solidFill>
            <a:srgbClr val="E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94360" y="256032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 AI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005072" y="256032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(11%)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103120" y="2880360"/>
            <a:ext cx="1828800" cy="219456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103120" y="2880360"/>
            <a:ext cx="203200" cy="219456"/>
          </a:xfrm>
          <a:prstGeom prst="rect">
            <a:avLst/>
          </a:prstGeom>
          <a:solidFill>
            <a:srgbClr val="E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94360" y="287121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005072" y="287121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(11%)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029200" y="9601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Use Cases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029200" y="1280160"/>
            <a:ext cx="45720" cy="310896"/>
          </a:xfrm>
          <a:prstGeom prst="rect">
            <a:avLst/>
          </a:prstGeom>
          <a:solidFill>
            <a:srgbClr val="E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166360" y="127101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Communication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166360" y="141732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Drafting messages, proofreading, polishing Slack replies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029200" y="1682496"/>
            <a:ext cx="45720" cy="310896"/>
          </a:xfrm>
          <a:prstGeom prst="rect">
            <a:avLst/>
          </a:prstGeom>
          <a:solidFill>
            <a:srgbClr val="E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166360" y="16733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Writing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166360" y="181965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captions, YouTube descriptions, social copy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029200" y="2084832"/>
            <a:ext cx="45720" cy="310896"/>
          </a:xfrm>
          <a:prstGeom prst="rect">
            <a:avLst/>
          </a:prstGeom>
          <a:solidFill>
            <a:srgbClr val="E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166360" y="207568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Management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166360" y="222199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lists, digesting client info, structuring workflows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029200" y="2487168"/>
            <a:ext cx="45720" cy="310896"/>
          </a:xfrm>
          <a:prstGeom prst="rect">
            <a:avLst/>
          </a:prstGeom>
          <a:solidFill>
            <a:srgbClr val="E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166360" y="247802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Generation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166360" y="262432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reports from voice notes, summarizing updates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029200" y="2889504"/>
            <a:ext cx="45720" cy="310896"/>
          </a:xfrm>
          <a:prstGeom prst="rect">
            <a:avLst/>
          </a:prstGeom>
          <a:solidFill>
            <a:srgbClr val="E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166360" y="28803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&amp; Tutorials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166360" y="302666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How-to guides, onboarding help, process discovery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48640" y="3703320"/>
            <a:ext cx="4114800" cy="84124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31520" y="375818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"Anything that can cut down task time is good by me."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31520" y="427024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5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Amber O., Production Coordinator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846320" y="3703320"/>
            <a:ext cx="3749040" cy="84124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029200" y="3758184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5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Requests from DFM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029200" y="3959352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ChatGPT Paid (4 requests)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Gemini (2 requests)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Claude / ElevenLabs (1 each)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6858000" y="-457200"/>
            <a:ext cx="1645920" cy="6400800"/>
          </a:xfrm>
          <a:prstGeom prst="rect">
            <a:avLst/>
          </a:prstGeom>
          <a:solidFill>
            <a:srgbClr val="E50000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900000">
            <a:off x="7772400" y="-731520"/>
            <a:ext cx="1097280" cy="6858000"/>
          </a:xfrm>
          <a:prstGeom prst="rect">
            <a:avLst/>
          </a:prstGeom>
          <a:solidFill>
            <a:srgbClr val="E5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663440"/>
            <a:ext cx="914400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Dragonfruit Media  •  AI Tool Survey — Role Breakdown  •  February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1828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Creative Directors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respondents  •  7% of team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9601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Tools Used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03120" y="1325880"/>
            <a:ext cx="1828800" cy="219456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103120" y="1325880"/>
            <a:ext cx="1828800" cy="219456"/>
          </a:xfrm>
          <a:prstGeom prst="rect">
            <a:avLst/>
          </a:prstGeom>
          <a:solidFill>
            <a:srgbClr val="E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131673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005072" y="131673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(100%)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103120" y="1636776"/>
            <a:ext cx="1828800" cy="219456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103120" y="1636776"/>
            <a:ext cx="731520" cy="219456"/>
          </a:xfrm>
          <a:prstGeom prst="rect">
            <a:avLst/>
          </a:prstGeom>
          <a:solidFill>
            <a:srgbClr val="E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16276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Adobe Firefly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005072" y="162763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(40%)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103120" y="1947672"/>
            <a:ext cx="1828800" cy="219456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103120" y="1947672"/>
            <a:ext cx="731520" cy="219456"/>
          </a:xfrm>
          <a:prstGeom prst="rect">
            <a:avLst/>
          </a:prstGeom>
          <a:solidFill>
            <a:srgbClr val="E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" y="193852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005072" y="193852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(40%)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103120" y="2258568"/>
            <a:ext cx="1828800" cy="219456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103120" y="2258568"/>
            <a:ext cx="365760" cy="219456"/>
          </a:xfrm>
          <a:prstGeom prst="rect">
            <a:avLst/>
          </a:prstGeom>
          <a:solidFill>
            <a:srgbClr val="E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94360" y="224942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Higgsfield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005072" y="224942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(20%)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103120" y="2569464"/>
            <a:ext cx="1828800" cy="219456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103120" y="2569464"/>
            <a:ext cx="365760" cy="219456"/>
          </a:xfrm>
          <a:prstGeom prst="rect">
            <a:avLst/>
          </a:prstGeom>
          <a:solidFill>
            <a:srgbClr val="E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94360" y="256032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005072" y="256032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(20%)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029200" y="9601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Use Cases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029200" y="1280160"/>
            <a:ext cx="45720" cy="310896"/>
          </a:xfrm>
          <a:prstGeom prst="rect">
            <a:avLst/>
          </a:prstGeom>
          <a:solidFill>
            <a:srgbClr val="E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166360" y="127101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Ideation &amp; Concepting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166360" y="141732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Brainstorming concepts, roadmap ideas, thought starters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029200" y="1682496"/>
            <a:ext cx="45720" cy="310896"/>
          </a:xfrm>
          <a:prstGeom prst="rect">
            <a:avLst/>
          </a:prstGeom>
          <a:solidFill>
            <a:srgbClr val="E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166360" y="16733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Scripting &amp; Revision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166360" y="181965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drafts, concept briefs, content polishing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029200" y="2084832"/>
            <a:ext cx="45720" cy="310896"/>
          </a:xfrm>
          <a:prstGeom prst="rect">
            <a:avLst/>
          </a:prstGeom>
          <a:solidFill>
            <a:srgbClr val="E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166360" y="207568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Thumbnail Design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166360" y="222199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Mockups, visual direction, image gen for roadmaps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029200" y="2487168"/>
            <a:ext cx="45720" cy="310896"/>
          </a:xfrm>
          <a:prstGeom prst="rect">
            <a:avLst/>
          </a:prstGeom>
          <a:solidFill>
            <a:srgbClr val="E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166360" y="247802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Communication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166360" y="262432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Polishing Slack replies, client-facing messaging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029200" y="2889504"/>
            <a:ext cx="45720" cy="310896"/>
          </a:xfrm>
          <a:prstGeom prst="rect">
            <a:avLst/>
          </a:prstGeom>
          <a:solidFill>
            <a:srgbClr val="E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166360" y="28803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166360" y="302666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Podcast guest research, topic deep-dives (Gemini)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8640" y="3703320"/>
            <a:ext cx="4114800" cy="84124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31520" y="375818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 haven't sat down to learn the other tools despite knowing they're highly valuable."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31520" y="427024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5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George A., Creative Director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846320" y="3703320"/>
            <a:ext cx="3749040" cy="84124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029200" y="3758184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5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Requests from DFM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029200" y="3959352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Higgsfield (3 requests)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Claude / Gemini / ChatGPT (1 each)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Wispr Flow for voice-to-text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6858000" y="-457200"/>
            <a:ext cx="1645920" cy="6400800"/>
          </a:xfrm>
          <a:prstGeom prst="rect">
            <a:avLst/>
          </a:prstGeom>
          <a:solidFill>
            <a:srgbClr val="E50000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900000">
            <a:off x="7772400" y="-731520"/>
            <a:ext cx="1097280" cy="6858000"/>
          </a:xfrm>
          <a:prstGeom prst="rect">
            <a:avLst/>
          </a:prstGeom>
          <a:solidFill>
            <a:srgbClr val="E5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663440"/>
            <a:ext cx="914400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Dragonfruit Media  •  AI Tool Survey — Role Breakdown  •  February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1828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 Production Managers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respondents  •  5% of team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9601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Tools Used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03120" y="1325880"/>
            <a:ext cx="1828800" cy="219456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103120" y="1325880"/>
            <a:ext cx="1828800" cy="219456"/>
          </a:xfrm>
          <a:prstGeom prst="rect">
            <a:avLst/>
          </a:prstGeom>
          <a:solidFill>
            <a:srgbClr val="E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131673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005072" y="131673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(100%)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103120" y="1636776"/>
            <a:ext cx="1828800" cy="219456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103120" y="1636776"/>
            <a:ext cx="1828800" cy="219456"/>
          </a:xfrm>
          <a:prstGeom prst="rect">
            <a:avLst/>
          </a:prstGeom>
          <a:solidFill>
            <a:srgbClr val="E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16276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ElevenLabs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005072" y="162763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(100%)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103120" y="1947672"/>
            <a:ext cx="1828800" cy="219456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103120" y="1947672"/>
            <a:ext cx="1371600" cy="219456"/>
          </a:xfrm>
          <a:prstGeom prst="rect">
            <a:avLst/>
          </a:prstGeom>
          <a:solidFill>
            <a:srgbClr val="E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" y="193852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Runway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005072" y="193852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(75%)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103120" y="2258568"/>
            <a:ext cx="1828800" cy="219456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103120" y="2258568"/>
            <a:ext cx="914400" cy="219456"/>
          </a:xfrm>
          <a:prstGeom prst="rect">
            <a:avLst/>
          </a:prstGeom>
          <a:solidFill>
            <a:srgbClr val="E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94360" y="224942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005072" y="224942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(50%)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103120" y="2569464"/>
            <a:ext cx="1828800" cy="219456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103120" y="2569464"/>
            <a:ext cx="914400" cy="219456"/>
          </a:xfrm>
          <a:prstGeom prst="rect">
            <a:avLst/>
          </a:prstGeom>
          <a:solidFill>
            <a:srgbClr val="E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94360" y="256032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005072" y="256032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(50%)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103120" y="2880360"/>
            <a:ext cx="1828800" cy="219456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103120" y="2880360"/>
            <a:ext cx="914400" cy="219456"/>
          </a:xfrm>
          <a:prstGeom prst="rect">
            <a:avLst/>
          </a:prstGeom>
          <a:solidFill>
            <a:srgbClr val="E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94360" y="287121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Kling AI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005072" y="287121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(50%)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029200" y="9601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Use Cases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029200" y="1280160"/>
            <a:ext cx="45720" cy="310896"/>
          </a:xfrm>
          <a:prstGeom prst="rect">
            <a:avLst/>
          </a:prstGeom>
          <a:solidFill>
            <a:srgbClr val="E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166360" y="127101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Fixes &amp; Voice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166360" y="141732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Recreating dialogue, fixing recordings, voice cloning (ElevenLabs)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029200" y="1682496"/>
            <a:ext cx="45720" cy="310896"/>
          </a:xfrm>
          <a:prstGeom prst="rect">
            <a:avLst/>
          </a:prstGeom>
          <a:solidFill>
            <a:srgbClr val="E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166360" y="16733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&amp; SOPs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166360" y="181965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Adjusting SOPs, editing tutorials, case studies (ChatGPT)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029200" y="2084832"/>
            <a:ext cx="45720" cy="310896"/>
          </a:xfrm>
          <a:prstGeom prst="rect">
            <a:avLst/>
          </a:prstGeom>
          <a:solidFill>
            <a:srgbClr val="E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166360" y="207568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Concepting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166360" y="222199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 visualization, video assets, experiments (Kling, Runway)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029200" y="2487168"/>
            <a:ext cx="45720" cy="310896"/>
          </a:xfrm>
          <a:prstGeom prst="rect">
            <a:avLst/>
          </a:prstGeom>
          <a:solidFill>
            <a:srgbClr val="E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166360" y="247802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Support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166360" y="262432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Spreadsheet formulas, editor resources, image refs (Gemini)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029200" y="2889504"/>
            <a:ext cx="45720" cy="310896"/>
          </a:xfrm>
          <a:prstGeom prst="rect">
            <a:avLst/>
          </a:prstGeom>
          <a:solidFill>
            <a:srgbClr val="E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166360" y="28803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Analysis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166360" y="302666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Summarizing scripts, pulling key points, compiling metrics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48640" y="3703320"/>
            <a:ext cx="4114800" cy="84124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31520" y="375818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"Using the unpaid version has worse results... GPT for managers would help."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31520" y="427024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5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Mahmoud K., Post Production Manager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846320" y="3703320"/>
            <a:ext cx="3749040" cy="84124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029200" y="3758184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5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Requests from DFM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029200" y="3959352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ChatGPT Paid (3 requests)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Midjourney (2 requests)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Runway (2 requests)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ElevenLabs / Kling (1 each)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6858000" y="-457200"/>
            <a:ext cx="1645920" cy="6400800"/>
          </a:xfrm>
          <a:prstGeom prst="rect">
            <a:avLst/>
          </a:prstGeom>
          <a:solidFill>
            <a:srgbClr val="E50000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900000">
            <a:off x="7772400" y="-731520"/>
            <a:ext cx="1097280" cy="6858000"/>
          </a:xfrm>
          <a:prstGeom prst="rect">
            <a:avLst/>
          </a:prstGeom>
          <a:solidFill>
            <a:srgbClr val="E5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663440"/>
            <a:ext cx="914400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Dragonfruit Media  •  AI Tool Survey — Role Breakdown  •  February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1828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Producers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respondents  •  5% of team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9601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Tools Used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03120" y="1325880"/>
            <a:ext cx="1828800" cy="219456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103120" y="1325880"/>
            <a:ext cx="914400" cy="219456"/>
          </a:xfrm>
          <a:prstGeom prst="rect">
            <a:avLst/>
          </a:prstGeom>
          <a:solidFill>
            <a:srgbClr val="E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131673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005072" y="131673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(50%)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103120" y="1636776"/>
            <a:ext cx="1828800" cy="219456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103120" y="1636776"/>
            <a:ext cx="914400" cy="219456"/>
          </a:xfrm>
          <a:prstGeom prst="rect">
            <a:avLst/>
          </a:prstGeom>
          <a:solidFill>
            <a:srgbClr val="E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16276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005072" y="162763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(50%)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103120" y="1947672"/>
            <a:ext cx="1828800" cy="219456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103120" y="1947672"/>
            <a:ext cx="457200" cy="219456"/>
          </a:xfrm>
          <a:prstGeom prst="rect">
            <a:avLst/>
          </a:prstGeom>
          <a:solidFill>
            <a:srgbClr val="E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" y="193852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005072" y="193852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(25%)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029200" y="9601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Use Cases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0" y="1280160"/>
            <a:ext cx="45720" cy="310896"/>
          </a:xfrm>
          <a:prstGeom prst="rect">
            <a:avLst/>
          </a:prstGeom>
          <a:solidFill>
            <a:srgbClr val="E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166360" y="127101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Planning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166360" y="141732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planning, production strategy, workflow optimization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029200" y="1682496"/>
            <a:ext cx="45720" cy="310896"/>
          </a:xfrm>
          <a:prstGeom prst="rect">
            <a:avLst/>
          </a:prstGeom>
          <a:solidFill>
            <a:srgbClr val="E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166360" y="16733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Research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66360" y="181965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background research, competitive analysis (Claude)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029200" y="2084832"/>
            <a:ext cx="45720" cy="310896"/>
          </a:xfrm>
          <a:prstGeom prst="rect">
            <a:avLst/>
          </a:prstGeom>
          <a:solidFill>
            <a:srgbClr val="E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166360" y="207568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166360" y="222199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Proofreading, problem-solving messages, Grammarly supplement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029200" y="2487168"/>
            <a:ext cx="45720" cy="310896"/>
          </a:xfrm>
          <a:prstGeom prst="rect">
            <a:avLst/>
          </a:prstGeom>
          <a:solidFill>
            <a:srgbClr val="E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166360" y="247802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Visuals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166360" y="262432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data visuals, general AI chat for analysis (Gemini)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48640" y="3703320"/>
            <a:ext cx="4114800" cy="84124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31520" y="375818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 use ChatGPT primarily as a strategic thinking partner... managing multiple clients."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31520" y="427024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5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Producer respondent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846320" y="3703320"/>
            <a:ext cx="3749040" cy="84124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029200" y="3758184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5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Requests from DFM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029200" y="3959352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Claude (2 requests)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ChatGPT Paid (1 request)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Perplexity for multi-model access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6858000" y="-457200"/>
            <a:ext cx="1645920" cy="6400800"/>
          </a:xfrm>
          <a:prstGeom prst="rect">
            <a:avLst/>
          </a:prstGeom>
          <a:solidFill>
            <a:srgbClr val="E50000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900000">
            <a:off x="7772400" y="-731520"/>
            <a:ext cx="1097280" cy="6858000"/>
          </a:xfrm>
          <a:prstGeom prst="rect">
            <a:avLst/>
          </a:prstGeom>
          <a:solidFill>
            <a:srgbClr val="E5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663440"/>
            <a:ext cx="914400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Dragonfruit Media  •  AI Tool Survey — Role Breakdown  •  February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274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Cross-Role Tool Adoption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731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Percentage of each role using each tool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097280"/>
            <a:ext cx="1371600" cy="347472"/>
          </a:xfrm>
          <a:prstGeom prst="rect">
            <a:avLst/>
          </a:prstGeom>
          <a:solidFill>
            <a:srgbClr val="E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920240" y="1097280"/>
            <a:ext cx="1371600" cy="347472"/>
          </a:xfrm>
          <a:prstGeom prst="rect">
            <a:avLst/>
          </a:prstGeom>
          <a:solidFill>
            <a:srgbClr val="E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920240" y="10972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097280"/>
            <a:ext cx="1371600" cy="347472"/>
          </a:xfrm>
          <a:prstGeom prst="rect">
            <a:avLst/>
          </a:prstGeom>
          <a:solidFill>
            <a:srgbClr val="E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91840" y="10972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Prod. Coord.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1097280"/>
            <a:ext cx="1371600" cy="347472"/>
          </a:xfrm>
          <a:prstGeom prst="rect">
            <a:avLst/>
          </a:prstGeom>
          <a:solidFill>
            <a:srgbClr val="E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63440" y="10972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Dir.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35040" y="1097280"/>
            <a:ext cx="1371600" cy="347472"/>
          </a:xfrm>
          <a:prstGeom prst="rect">
            <a:avLst/>
          </a:prstGeom>
          <a:solidFill>
            <a:srgbClr val="E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035040" y="10972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Prod.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406640" y="1097280"/>
            <a:ext cx="1371600" cy="347472"/>
          </a:xfrm>
          <a:prstGeom prst="rect">
            <a:avLst/>
          </a:prstGeom>
          <a:solidFill>
            <a:srgbClr val="E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406640" y="10972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1444752"/>
            <a:ext cx="1371600" cy="34747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1792" y="144475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920240" y="1444752"/>
            <a:ext cx="1371600" cy="347472"/>
          </a:xfrm>
          <a:prstGeom prst="rect">
            <a:avLst/>
          </a:prstGeom>
          <a:solidFill>
            <a:srgbClr val="E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920240" y="144475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91840" y="1444752"/>
            <a:ext cx="1371600" cy="347472"/>
          </a:xfrm>
          <a:prstGeom prst="rect">
            <a:avLst/>
          </a:prstGeom>
          <a:solidFill>
            <a:srgbClr val="E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91840" y="144475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1444752"/>
            <a:ext cx="1371600" cy="347472"/>
          </a:xfrm>
          <a:prstGeom prst="rect">
            <a:avLst/>
          </a:prstGeom>
          <a:solidFill>
            <a:srgbClr val="E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663440" y="144475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35040" y="1444752"/>
            <a:ext cx="1371600" cy="347472"/>
          </a:xfrm>
          <a:prstGeom prst="rect">
            <a:avLst/>
          </a:prstGeom>
          <a:solidFill>
            <a:srgbClr val="E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035040" y="144475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406640" y="1444752"/>
            <a:ext cx="1371600" cy="347472"/>
          </a:xfrm>
          <a:prstGeom prst="rect">
            <a:avLst/>
          </a:prstGeom>
          <a:solidFill>
            <a:srgbClr val="FF66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406640" y="144475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1792224"/>
            <a:ext cx="137160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21792" y="1792224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920240" y="1792224"/>
            <a:ext cx="1371600" cy="347472"/>
          </a:xfrm>
          <a:prstGeom prst="rect">
            <a:avLst/>
          </a:prstGeom>
          <a:solidFill>
            <a:srgbClr val="FF66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920240" y="179222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91840" y="1792224"/>
            <a:ext cx="1371600" cy="347472"/>
          </a:xfrm>
          <a:prstGeom prst="rect">
            <a:avLst/>
          </a:prstGeom>
          <a:solidFill>
            <a:srgbClr val="FF66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291840" y="179222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63440" y="1792224"/>
            <a:ext cx="1371600" cy="347472"/>
          </a:xfrm>
          <a:prstGeom prst="rect">
            <a:avLst/>
          </a:prstGeom>
          <a:solidFill>
            <a:srgbClr val="FFAA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663440" y="179222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035040" y="1792224"/>
            <a:ext cx="1371600" cy="347472"/>
          </a:xfrm>
          <a:prstGeom prst="rect">
            <a:avLst/>
          </a:prstGeom>
          <a:solidFill>
            <a:srgbClr val="FF66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035040" y="179222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406640" y="1792224"/>
            <a:ext cx="1371600" cy="347472"/>
          </a:xfrm>
          <a:prstGeom prst="rect">
            <a:avLst/>
          </a:prstGeom>
          <a:solidFill>
            <a:srgbClr val="FFAA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406640" y="179222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48640" y="2139696"/>
            <a:ext cx="1371600" cy="34747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21792" y="2139696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ElevenLabs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920240" y="2139696"/>
            <a:ext cx="1371600" cy="347472"/>
          </a:xfrm>
          <a:prstGeom prst="rect">
            <a:avLst/>
          </a:prstGeom>
          <a:solidFill>
            <a:srgbClr val="FF66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920240" y="213969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291840" y="2139696"/>
            <a:ext cx="1371600" cy="347472"/>
          </a:xfrm>
          <a:prstGeom prst="rect">
            <a:avLst/>
          </a:prstGeom>
          <a:solidFill>
            <a:srgbClr val="FFAA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291840" y="213969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663440" y="2139696"/>
            <a:ext cx="1371600" cy="34747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663440" y="213969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035040" y="2139696"/>
            <a:ext cx="1371600" cy="347472"/>
          </a:xfrm>
          <a:prstGeom prst="rect">
            <a:avLst/>
          </a:prstGeom>
          <a:solidFill>
            <a:srgbClr val="E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035040" y="213969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406640" y="2139696"/>
            <a:ext cx="1371600" cy="34747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7406640" y="213969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48640" y="2487168"/>
            <a:ext cx="137160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21792" y="2487168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Adobe Firefly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1920240" y="2487168"/>
            <a:ext cx="1371600" cy="347472"/>
          </a:xfrm>
          <a:prstGeom prst="rect">
            <a:avLst/>
          </a:prstGeom>
          <a:solidFill>
            <a:srgbClr val="FF66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1920240" y="248716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291840" y="2487168"/>
            <a:ext cx="1371600" cy="347472"/>
          </a:xfrm>
          <a:prstGeom prst="rect">
            <a:avLst/>
          </a:prstGeom>
          <a:solidFill>
            <a:srgbClr val="FFAA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3291840" y="248716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4663440" y="2487168"/>
            <a:ext cx="1371600" cy="347472"/>
          </a:xfrm>
          <a:prstGeom prst="rect">
            <a:avLst/>
          </a:prstGeom>
          <a:solidFill>
            <a:srgbClr val="FFAA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663440" y="248716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035040" y="2487168"/>
            <a:ext cx="1371600" cy="347472"/>
          </a:xfrm>
          <a:prstGeom prst="rect">
            <a:avLst/>
          </a:prstGeom>
          <a:solidFill>
            <a:srgbClr val="FFAA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6035040" y="248716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7406640" y="2487168"/>
            <a:ext cx="137160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7406640" y="248716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48640" y="2834640"/>
            <a:ext cx="1371600" cy="34747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621792" y="28346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Freepik AI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1920240" y="2834640"/>
            <a:ext cx="1371600" cy="347472"/>
          </a:xfrm>
          <a:prstGeom prst="rect">
            <a:avLst/>
          </a:prstGeom>
          <a:solidFill>
            <a:srgbClr val="FF66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1920240" y="28346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3291840" y="2834640"/>
            <a:ext cx="1371600" cy="34747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3291840" y="28346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4663440" y="2834640"/>
            <a:ext cx="1371600" cy="34747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4663440" y="28346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6035040" y="2834640"/>
            <a:ext cx="1371600" cy="347472"/>
          </a:xfrm>
          <a:prstGeom prst="rect">
            <a:avLst/>
          </a:prstGeom>
          <a:solidFill>
            <a:srgbClr val="FFAA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6035040" y="28346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7406640" y="2834640"/>
            <a:ext cx="1371600" cy="34747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7406640" y="28346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548640" y="3182112"/>
            <a:ext cx="137160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621792" y="318211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1920240" y="3182112"/>
            <a:ext cx="1371600" cy="347472"/>
          </a:xfrm>
          <a:prstGeom prst="rect">
            <a:avLst/>
          </a:prstGeom>
          <a:solidFill>
            <a:srgbClr val="FFAA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1920240" y="318211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3291840" y="3182112"/>
            <a:ext cx="1371600" cy="347472"/>
          </a:xfrm>
          <a:prstGeom prst="rect">
            <a:avLst/>
          </a:prstGeom>
          <a:solidFill>
            <a:srgbClr val="FFD6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3291840" y="318211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4663440" y="3182112"/>
            <a:ext cx="1371600" cy="347472"/>
          </a:xfrm>
          <a:prstGeom prst="rect">
            <a:avLst/>
          </a:prstGeom>
          <a:solidFill>
            <a:srgbClr val="FFD6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4663440" y="318211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6035040" y="3182112"/>
            <a:ext cx="1371600" cy="347472"/>
          </a:xfrm>
          <a:prstGeom prst="rect">
            <a:avLst/>
          </a:prstGeom>
          <a:solidFill>
            <a:srgbClr val="FF66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6035040" y="318211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7406640" y="3182112"/>
            <a:ext cx="1371600" cy="347472"/>
          </a:xfrm>
          <a:prstGeom prst="rect">
            <a:avLst/>
          </a:prstGeom>
          <a:solidFill>
            <a:srgbClr val="FF66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7406640" y="318211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548640" y="3529584"/>
            <a:ext cx="1371600" cy="34747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621792" y="3529584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Higgsfield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1920240" y="3529584"/>
            <a:ext cx="1371600" cy="347472"/>
          </a:xfrm>
          <a:prstGeom prst="rect">
            <a:avLst/>
          </a:prstGeom>
          <a:solidFill>
            <a:srgbClr val="FFAA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1920240" y="352958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3291840" y="3529584"/>
            <a:ext cx="1371600" cy="347472"/>
          </a:xfrm>
          <a:prstGeom prst="rect">
            <a:avLst/>
          </a:prstGeom>
          <a:solidFill>
            <a:srgbClr val="FFD6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3291840" y="352958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4663440" y="3529584"/>
            <a:ext cx="1371600" cy="347472"/>
          </a:xfrm>
          <a:prstGeom prst="rect">
            <a:avLst/>
          </a:prstGeom>
          <a:solidFill>
            <a:srgbClr val="FFD6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4663440" y="352958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6035040" y="3529584"/>
            <a:ext cx="1371600" cy="34747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6035040" y="352958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7406640" y="3529584"/>
            <a:ext cx="1371600" cy="34747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7406640" y="352958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104" name="Text 102"/>
          <p:cNvSpPr/>
          <p:nvPr/>
        </p:nvSpPr>
        <p:spPr>
          <a:xfrm>
            <a:off x="548640" y="40142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Darker red = higher adoption within that role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6858000" y="-457200"/>
            <a:ext cx="1645920" cy="6400800"/>
          </a:xfrm>
          <a:prstGeom prst="rect">
            <a:avLst/>
          </a:prstGeom>
          <a:solidFill>
            <a:srgbClr val="E50000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900000">
            <a:off x="7772400" y="-731520"/>
            <a:ext cx="1097280" cy="6858000"/>
          </a:xfrm>
          <a:prstGeom prst="rect">
            <a:avLst/>
          </a:prstGeom>
          <a:solidFill>
            <a:srgbClr val="E5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663440"/>
            <a:ext cx="914400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Dragonfruit Media  •  AI Tool Survey — Role Breakdown  •  February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274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Insights by Role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1033272"/>
            <a:ext cx="320040" cy="320040"/>
          </a:xfrm>
          <a:prstGeom prst="ellipse">
            <a:avLst/>
          </a:prstGeom>
          <a:solidFill>
            <a:srgbClr val="E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0332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9601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Editors Are the Power Users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21615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 editors average 5+ tools each. They drive demand for video gen (Higgsfield, Veo, Kling), image gen (Freepik, Firefly), and audio (ElevenLabs). 17 pay out of pocket for ChatGPT alone.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1783080"/>
            <a:ext cx="320040" cy="320040"/>
          </a:xfrm>
          <a:prstGeom prst="ellipse">
            <a:avLst/>
          </a:prstGeom>
          <a:solidFill>
            <a:srgbClr val="E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1783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17099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PCs Use AI for Communication, Not Creation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1965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Coordinators rely almost exclusively on ChatGPT for writing — captions, descriptions, client messages. Least tool-diverse group but could benefit most from ChatGPT Paid.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2532888"/>
            <a:ext cx="320040" cy="320040"/>
          </a:xfrm>
          <a:prstGeom prst="ellipse">
            <a:avLst/>
          </a:prstGeom>
          <a:solidFill>
            <a:srgbClr val="E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25328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245973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Creative Directors Have a Knowledge Gap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271576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5 CDs use ChatGPT, but most haven't explored beyond it. One CD openly admitted not having sat down to learn other tools. Training and demos would have outsized impact here.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3282696"/>
            <a:ext cx="320040" cy="320040"/>
          </a:xfrm>
          <a:prstGeom prst="ellipse">
            <a:avLst/>
          </a:prstGeom>
          <a:solidFill>
            <a:srgbClr val="E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32826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320954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 Production Mgrs Are the Audio Experts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3465576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use ElevenLabs — the only role with universal adoption of a non-ChatGPT tool. They fix audio issues editors can't resolve, and they're the heaviest Runway users.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4032504"/>
            <a:ext cx="320040" cy="320040"/>
          </a:xfrm>
          <a:prstGeom prst="ellipse">
            <a:avLst/>
          </a:prstGeom>
          <a:solidFill>
            <a:srgbClr val="E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" y="40325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" y="39593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Producers Lean on Claude More Than Others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5840" y="4215384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of producers use Claude — the highest rate of any role. They use it for strategic planning and client research. Both Claude users want DFM to provide it company-wide.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900000">
            <a:off x="6858000" y="-457200"/>
            <a:ext cx="1645920" cy="6400800"/>
          </a:xfrm>
          <a:prstGeom prst="rect">
            <a:avLst/>
          </a:prstGeom>
          <a:solidFill>
            <a:srgbClr val="E5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900000">
            <a:off x="7772400" y="-731520"/>
            <a:ext cx="1097280" cy="6858000"/>
          </a:xfrm>
          <a:prstGeom prst="rect">
            <a:avLst/>
          </a:prstGeom>
          <a:solidFill>
            <a:srgbClr val="E50000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Size Doesn't Fit All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5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Editors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468880" y="1828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creative tools — video, image, and audio generation.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5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Coordinators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468880" y="2286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productivity tools — writing assistance and task automation.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5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Directors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468880" y="2743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discovery and training — exposure to what's possible.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5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468880" y="32004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specialized tools — audio repair and video concepting.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3657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5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Producers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468880" y="3657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strategic AI — research, planning, and decision support.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4206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Tailor AI investments by role to maximize ROI across the team.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1487</Words>
  <Application>Microsoft Macintosh PowerPoint</Application>
  <PresentationFormat>On-screen Show (16:9)</PresentationFormat>
  <Paragraphs>292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Tool Survey — Role Breakdown</dc:title>
  <dc:subject>PptxGenJS Presentation</dc:subject>
  <dc:creator>Dragon Fruit Media</dc:creator>
  <cp:lastModifiedBy>Satya Bonda</cp:lastModifiedBy>
  <cp:revision>1</cp:revision>
  <dcterms:created xsi:type="dcterms:W3CDTF">2026-02-22T19:38:23Z</dcterms:created>
  <dcterms:modified xsi:type="dcterms:W3CDTF">2026-03-08T18:59:46Z</dcterms:modified>
</cp:coreProperties>
</file>